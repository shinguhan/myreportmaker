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테마 스타일 2 - 강조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8203" autoAdjust="0"/>
    <p:restoredTop sz="94700" autoAdjust="0"/>
  </p:normalViewPr>
  <p:slideViewPr>
    <p:cSldViewPr>
      <p:cViewPr varScale="1">
        <p:scale>
          <a:sx n="80" d="100"/>
          <a:sy n="80" d="100"/>
        </p:scale>
        <p:origin x="1480" y="4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9366CA-B18F-410F-A33A-3F768F2B3FF6}" type="datetimeFigureOut">
              <a:rPr lang="ko-KR" altLang="en-US" smtClean="0"/>
              <a:t>2022-10-14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2A937C-271F-4CED-AB44-7A2EDEA709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02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2A937C-271F-4CED-AB44-7A2EDEA7097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836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2A937C-271F-4CED-AB44-7A2EDEA7097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512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5B55-FA72-42E9-ACF6-B72ECDB57A70}" type="datetime1">
              <a:rPr lang="ko-KR" altLang="en-US" smtClean="0"/>
              <a:t>2022-10-14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0485-1F61-4C93-A20F-C15362871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419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76BF0-99EE-4479-880A-DF29529D05AD}" type="datetime1">
              <a:rPr lang="ko-KR" altLang="en-US" smtClean="0"/>
              <a:t>2022-10-14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0485-1F61-4C93-A20F-C15362871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959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F2A4-9D0D-40B3-89E0-A5BC0F1088E6}" type="datetime1">
              <a:rPr lang="ko-KR" altLang="en-US" smtClean="0"/>
              <a:t>2022-10-14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0485-1F61-4C93-A20F-C15362871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987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11FB1-219A-4F56-9E28-9542717CD9AE}" type="datetime1">
              <a:rPr lang="ko-KR" altLang="en-US" smtClean="0"/>
              <a:t>2022-10-14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0485-1F61-4C93-A20F-C15362871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781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8AB6-0086-4229-A73B-A5A2B3B48351}" type="datetime1">
              <a:rPr lang="ko-KR" altLang="en-US" smtClean="0"/>
              <a:t>2022-10-14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0485-1F61-4C93-A20F-C15362871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426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3BE5-F8D4-4A98-86F2-4B16B85D717A}" type="datetime1">
              <a:rPr lang="ko-KR" altLang="en-US" smtClean="0"/>
              <a:t>2022-10-14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0485-1F61-4C93-A20F-C15362871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93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8EC9-D8DB-4B12-880F-54153BA1B726}" type="datetime1">
              <a:rPr lang="ko-KR" altLang="en-US" smtClean="0"/>
              <a:t>2022-10-14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0485-1F61-4C93-A20F-C15362871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786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11842-0ACB-40D6-B251-133857FA2DB8}" type="datetime1">
              <a:rPr lang="ko-KR" altLang="en-US" smtClean="0"/>
              <a:t>2022-10-14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0485-1F61-4C93-A20F-C15362871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046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143BD-A25E-4D69-BA97-D4168E732BB0}" type="datetime1">
              <a:rPr lang="ko-KR" altLang="en-US" smtClean="0"/>
              <a:t>2022-10-14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0485-1F61-4C93-A20F-C15362871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560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0B30-F2D1-424D-80AA-2736B765A155}" type="datetime1">
              <a:rPr lang="ko-KR" altLang="en-US" smtClean="0"/>
              <a:t>2022-10-14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0485-1F61-4C93-A20F-C15362871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417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9096-890B-4EF7-9A29-492255724381}" type="datetime1">
              <a:rPr lang="ko-KR" altLang="en-US" smtClean="0"/>
              <a:t>2022-10-14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0485-1F61-4C93-A20F-C15362871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684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B7571-D84D-44D7-8EEE-1582F3185577}" type="datetime1">
              <a:rPr lang="ko-KR" altLang="en-US" smtClean="0"/>
              <a:t>2022-10-14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70485-1F61-4C93-A20F-C1536287191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4661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b_basicInf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270499"/>
              </p:ext>
            </p:extLst>
          </p:nvPr>
        </p:nvGraphicFramePr>
        <p:xfrm>
          <a:off x="188640" y="1022400"/>
          <a:ext cx="6480720" cy="89439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859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 dirty="0">
                          <a:effectLst/>
                          <a:latin typeface="+mn-ea"/>
                          <a:ea typeface="+mn-ea"/>
                        </a:rPr>
                        <a:t>성적서 번호</a:t>
                      </a:r>
                      <a:r>
                        <a:rPr lang="en-US" sz="1050" u="none" strike="noStrike" dirty="0">
                          <a:effectLst/>
                          <a:latin typeface="+mn-ea"/>
                          <a:ea typeface="+mn-ea"/>
                        </a:rPr>
                        <a:t> : 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  <a:latin typeface="+mn-ea"/>
                          <a:ea typeface="+mn-ea"/>
                        </a:rPr>
                        <a:t>A202209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73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u="none" strike="noStrike" dirty="0">
                          <a:effectLst/>
                          <a:latin typeface="+mn-ea"/>
                          <a:ea typeface="+mn-ea"/>
                        </a:rPr>
                        <a:t>Mask </a:t>
                      </a:r>
                      <a:r>
                        <a:rPr lang="ko-KR" altLang="en-US" sz="1050" u="none" strike="noStrike" dirty="0">
                          <a:effectLst/>
                          <a:latin typeface="+mn-ea"/>
                          <a:ea typeface="+mn-ea"/>
                        </a:rPr>
                        <a:t>입고 일자 </a:t>
                      </a:r>
                      <a:r>
                        <a:rPr lang="en-US" altLang="ko-KR" sz="1050" u="none" strike="noStrike" dirty="0">
                          <a:effectLst/>
                          <a:latin typeface="+mn-ea"/>
                          <a:ea typeface="+mn-ea"/>
                        </a:rPr>
                        <a:t>: 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600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2022.09.</a:t>
                      </a:r>
                    </a:p>
                  </a:txBody>
                  <a:tcPr marL="129600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73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 dirty="0" err="1">
                          <a:effectLst/>
                          <a:latin typeface="+mn-ea"/>
                          <a:ea typeface="+mn-ea"/>
                        </a:rPr>
                        <a:t>반출자</a:t>
                      </a:r>
                      <a:r>
                        <a:rPr lang="ko-KR" altLang="en-US" sz="1050" u="none" strike="noStrike" dirty="0">
                          <a:effectLst/>
                          <a:latin typeface="+mn-ea"/>
                          <a:ea typeface="+mn-ea"/>
                        </a:rPr>
                        <a:t> 정보 </a:t>
                      </a:r>
                      <a:r>
                        <a:rPr lang="en-US" altLang="ko-KR" sz="1050" u="none" strike="noStrike" dirty="0">
                          <a:effectLst/>
                          <a:latin typeface="+mn-ea"/>
                          <a:ea typeface="+mn-ea"/>
                        </a:rPr>
                        <a:t>: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풍원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73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 dirty="0">
                          <a:effectLst/>
                          <a:latin typeface="+mn-ea"/>
                          <a:ea typeface="+mn-ea"/>
                        </a:rPr>
                        <a:t>검수 완료 일자 </a:t>
                      </a:r>
                      <a:r>
                        <a:rPr lang="en-US" altLang="ko-KR" sz="1050" u="none" strike="noStrike" dirty="0">
                          <a:effectLst/>
                          <a:latin typeface="+mn-ea"/>
                          <a:ea typeface="+mn-ea"/>
                        </a:rPr>
                        <a:t>: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600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u="none" strike="noStrike">
                          <a:effectLst/>
                          <a:latin typeface="+mn-ea"/>
                          <a:ea typeface="+mn-ea"/>
                        </a:rPr>
                        <a:t>2022.09.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600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73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 dirty="0" err="1">
                          <a:effectLst/>
                          <a:latin typeface="+mn-ea"/>
                          <a:ea typeface="+mn-ea"/>
                        </a:rPr>
                        <a:t>고객사</a:t>
                      </a:r>
                      <a:r>
                        <a:rPr lang="ko-KR" altLang="en-US" sz="1050" u="none" strike="noStrike" dirty="0">
                          <a:effectLst/>
                          <a:latin typeface="+mn-ea"/>
                          <a:ea typeface="+mn-ea"/>
                        </a:rPr>
                        <a:t> 정보 </a:t>
                      </a:r>
                      <a:r>
                        <a:rPr lang="en-US" altLang="ko-KR" sz="1050" u="none" strike="noStrike" dirty="0">
                          <a:effectLst/>
                          <a:latin typeface="+mn-ea"/>
                          <a:ea typeface="+mn-ea"/>
                        </a:rPr>
                        <a:t>: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  <a:latin typeface="+mn-ea"/>
                          <a:ea typeface="+mn-ea"/>
                        </a:rPr>
                        <a:t>SDC A4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73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 dirty="0">
                          <a:effectLst/>
                          <a:latin typeface="+mn-ea"/>
                          <a:ea typeface="+mn-ea"/>
                        </a:rPr>
                        <a:t>성적서 용도 </a:t>
                      </a:r>
                      <a:r>
                        <a:rPr lang="en-US" altLang="ko-KR" sz="1050" u="none" strike="noStrike" dirty="0">
                          <a:effectLst/>
                          <a:latin typeface="+mn-ea"/>
                          <a:ea typeface="+mn-ea"/>
                        </a:rPr>
                        <a:t>: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600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 dirty="0" err="1">
                          <a:effectLst/>
                          <a:latin typeface="+mn-ea"/>
                          <a:ea typeface="+mn-ea"/>
                        </a:rPr>
                        <a:t>고객사</a:t>
                      </a:r>
                      <a:r>
                        <a:rPr lang="ko-KR" altLang="en-US" sz="1050" u="none" strike="noStrike" dirty="0">
                          <a:effectLst/>
                          <a:latin typeface="+mn-ea"/>
                          <a:ea typeface="+mn-ea"/>
                        </a:rPr>
                        <a:t> 제출용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600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73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l" fontAlgn="ctr"/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marL="128587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73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검사 실무자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600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박선진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이형섭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지경덕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이동규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600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73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0" y="8961966"/>
            <a:ext cx="6858000" cy="1820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"/>
            <a:ext cx="6858000" cy="9900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-14934" y="721668"/>
            <a:ext cx="6858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latin typeface="+mn-ea"/>
              </a:rPr>
              <a:t>충청남도 천안시 </a:t>
            </a:r>
            <a:r>
              <a:rPr lang="ko-KR" altLang="en-US" sz="1000" dirty="0" err="1">
                <a:latin typeface="+mn-ea"/>
              </a:rPr>
              <a:t>서북구</a:t>
            </a:r>
            <a:r>
              <a:rPr lang="ko-KR" altLang="en-US" sz="1000" dirty="0">
                <a:latin typeface="+mn-ea"/>
              </a:rPr>
              <a:t> </a:t>
            </a:r>
            <a:r>
              <a:rPr lang="ko-KR" altLang="en-US" sz="1000" dirty="0" err="1">
                <a:latin typeface="+mn-ea"/>
              </a:rPr>
              <a:t>직산읍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4</a:t>
            </a:r>
            <a:r>
              <a:rPr lang="ko-KR" altLang="en-US" sz="1000" dirty="0">
                <a:latin typeface="+mn-ea"/>
              </a:rPr>
              <a:t>산단 </a:t>
            </a:r>
            <a:r>
              <a:rPr lang="en-US" altLang="ko-KR" sz="1000" dirty="0">
                <a:latin typeface="+mn-ea"/>
              </a:rPr>
              <a:t>2</a:t>
            </a:r>
            <a:r>
              <a:rPr lang="ko-KR" altLang="en-US" sz="1000" dirty="0">
                <a:latin typeface="+mn-ea"/>
              </a:rPr>
              <a:t>길 </a:t>
            </a:r>
            <a:r>
              <a:rPr lang="en-US" altLang="ko-KR" sz="1000" dirty="0">
                <a:latin typeface="+mn-ea"/>
              </a:rPr>
              <a:t>19 </a:t>
            </a:r>
            <a:r>
              <a:rPr lang="ko-KR" altLang="en-US" sz="1000" b="1" dirty="0" err="1">
                <a:latin typeface="+mn-ea"/>
              </a:rPr>
              <a:t>에프엔에스테크</a:t>
            </a:r>
            <a:r>
              <a:rPr lang="ko-KR" altLang="en-US" sz="1000" b="1" dirty="0">
                <a:latin typeface="+mn-ea"/>
              </a:rPr>
              <a:t>㈜ </a:t>
            </a:r>
            <a:r>
              <a:rPr lang="en-US" altLang="ko-KR" sz="1000" dirty="0">
                <a:latin typeface="+mn-ea"/>
              </a:rPr>
              <a:t>         Tel) 041-901-0570  Fax) 041-901-0579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286656" y="219529"/>
            <a:ext cx="42548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en-US" altLang="ko-KR" sz="2800" u="none" strike="noStrike" dirty="0">
                <a:effectLst/>
                <a:latin typeface="Dutch801 XBd BT" pitchFamily="18" charset="0"/>
              </a:rPr>
              <a:t>Mask Inspection Report </a:t>
            </a:r>
            <a:endParaRPr lang="en-US" altLang="ko-KR" sz="2800" b="1" i="1" dirty="0">
              <a:solidFill>
                <a:srgbClr val="000000"/>
              </a:solidFill>
              <a:latin typeface="Dutch801 XBd BT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281" y="8756346"/>
            <a:ext cx="2401438" cy="417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48053" y="42407"/>
            <a:ext cx="280878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solidFill>
                  <a:schemeClr val="bg1"/>
                </a:solidFill>
              </a:rPr>
              <a:t>YOUR PARTNER FOR THE BEST QUALITY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graphicFrame>
        <p:nvGraphicFramePr>
          <p:cNvPr id="13" name="tb_maskI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806320"/>
              </p:ext>
            </p:extLst>
          </p:nvPr>
        </p:nvGraphicFramePr>
        <p:xfrm>
          <a:off x="84074" y="1839817"/>
          <a:ext cx="309165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4338">
                  <a:extLst>
                    <a:ext uri="{9D8B030D-6E8A-4147-A177-3AD203B41FA5}">
                      <a16:colId xmlns:a16="http://schemas.microsoft.com/office/drawing/2014/main" val="3955176544"/>
                    </a:ext>
                  </a:extLst>
                </a:gridCol>
                <a:gridCol w="1657316">
                  <a:extLst>
                    <a:ext uri="{9D8B030D-6E8A-4147-A177-3AD203B41FA5}">
                      <a16:colId xmlns:a16="http://schemas.microsoft.com/office/drawing/2014/main" val="24538357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Mask Serial No :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6111578"/>
                  </a:ext>
                </a:extLst>
              </a:tr>
            </a:tbl>
          </a:graphicData>
        </a:graphic>
      </p:graphicFrame>
      <p:cxnSp>
        <p:nvCxnSpPr>
          <p:cNvPr id="16" name="직선 연결선 15"/>
          <p:cNvCxnSpPr/>
          <p:nvPr/>
        </p:nvCxnSpPr>
        <p:spPr>
          <a:xfrm>
            <a:off x="164167" y="2193502"/>
            <a:ext cx="6552728" cy="47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36603"/>
              </p:ext>
            </p:extLst>
          </p:nvPr>
        </p:nvGraphicFramePr>
        <p:xfrm>
          <a:off x="186376" y="2336978"/>
          <a:ext cx="6482984" cy="62358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3392582455"/>
                    </a:ext>
                  </a:extLst>
                </a:gridCol>
                <a:gridCol w="497205">
                  <a:extLst>
                    <a:ext uri="{9D8B030D-6E8A-4147-A177-3AD203B41FA5}">
                      <a16:colId xmlns:a16="http://schemas.microsoft.com/office/drawing/2014/main" val="584641464"/>
                    </a:ext>
                  </a:extLst>
                </a:gridCol>
                <a:gridCol w="584834">
                  <a:extLst>
                    <a:ext uri="{9D8B030D-6E8A-4147-A177-3AD203B41FA5}">
                      <a16:colId xmlns:a16="http://schemas.microsoft.com/office/drawing/2014/main" val="3378700368"/>
                    </a:ext>
                  </a:extLst>
                </a:gridCol>
                <a:gridCol w="812848">
                  <a:extLst>
                    <a:ext uri="{9D8B030D-6E8A-4147-A177-3AD203B41FA5}">
                      <a16:colId xmlns:a16="http://schemas.microsoft.com/office/drawing/2014/main" val="3428562849"/>
                    </a:ext>
                  </a:extLst>
                </a:gridCol>
                <a:gridCol w="621433">
                  <a:extLst>
                    <a:ext uri="{9D8B030D-6E8A-4147-A177-3AD203B41FA5}">
                      <a16:colId xmlns:a16="http://schemas.microsoft.com/office/drawing/2014/main" val="223335622"/>
                    </a:ext>
                  </a:extLst>
                </a:gridCol>
                <a:gridCol w="621433">
                  <a:extLst>
                    <a:ext uri="{9D8B030D-6E8A-4147-A177-3AD203B41FA5}">
                      <a16:colId xmlns:a16="http://schemas.microsoft.com/office/drawing/2014/main" val="2401019035"/>
                    </a:ext>
                  </a:extLst>
                </a:gridCol>
                <a:gridCol w="621433">
                  <a:extLst>
                    <a:ext uri="{9D8B030D-6E8A-4147-A177-3AD203B41FA5}">
                      <a16:colId xmlns:a16="http://schemas.microsoft.com/office/drawing/2014/main" val="2799840954"/>
                    </a:ext>
                  </a:extLst>
                </a:gridCol>
                <a:gridCol w="621433">
                  <a:extLst>
                    <a:ext uri="{9D8B030D-6E8A-4147-A177-3AD203B41FA5}">
                      <a16:colId xmlns:a16="http://schemas.microsoft.com/office/drawing/2014/main" val="1768259967"/>
                    </a:ext>
                  </a:extLst>
                </a:gridCol>
                <a:gridCol w="621433">
                  <a:extLst>
                    <a:ext uri="{9D8B030D-6E8A-4147-A177-3AD203B41FA5}">
                      <a16:colId xmlns:a16="http://schemas.microsoft.com/office/drawing/2014/main" val="4214579639"/>
                    </a:ext>
                  </a:extLst>
                </a:gridCol>
                <a:gridCol w="936102">
                  <a:extLst>
                    <a:ext uri="{9D8B030D-6E8A-4147-A177-3AD203B41FA5}">
                      <a16:colId xmlns:a16="http://schemas.microsoft.com/office/drawing/2014/main" val="4070107554"/>
                    </a:ext>
                  </a:extLst>
                </a:gridCol>
              </a:tblGrid>
              <a:tr h="26436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검사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기준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결과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비고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590789"/>
                  </a:ext>
                </a:extLst>
              </a:tr>
              <a:tr h="2643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방법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Szie</a:t>
                      </a:r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수량</a:t>
                      </a:r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u="none" strike="noStrike" baseline="0" dirty="0">
                          <a:effectLst/>
                        </a:rPr>
                        <a:t> </a:t>
                      </a:r>
                      <a:r>
                        <a:rPr lang="ko-KR" altLang="en-US" sz="1050" b="1" u="none" strike="noStrike" baseline="0" dirty="0" err="1">
                          <a:effectLst/>
                        </a:rPr>
                        <a:t>갯</a:t>
                      </a:r>
                      <a:r>
                        <a:rPr lang="ko-KR" altLang="en-US" sz="1050" b="1" u="none" strike="noStrike" dirty="0" err="1">
                          <a:effectLst/>
                        </a:rPr>
                        <a:t>수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Location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판정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922542"/>
                  </a:ext>
                </a:extLst>
              </a:tr>
              <a:tr h="177415"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입고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9"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육</a:t>
                      </a: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안</a:t>
                      </a:r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pPr lvl="0" algn="l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스틱</a:t>
                      </a: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Scratch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1197549"/>
                  </a:ext>
                </a:extLst>
              </a:tr>
              <a:tr h="177415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vl="0" algn="l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Bending</a:t>
                      </a: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u="none" strike="noStrike" dirty="0">
                        <a:effectLst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 0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0014155"/>
                  </a:ext>
                </a:extLst>
              </a:tr>
              <a:tr h="177415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vl="0" algn="l" rtl="0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Stain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baseline="0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baseline="0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 0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6489641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Broken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 0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8807171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프레임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Scratch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4223552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Corrosion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 0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9817749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경사면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Scratch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1871605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Burr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ea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8954243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ko-KR" alt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용접부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ea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5227438"/>
                  </a:ext>
                </a:extLst>
              </a:tr>
              <a:tr h="177415">
                <a:tc rowSpan="15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출하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+mn-ea"/>
                          <a:ea typeface="+mn-ea"/>
                        </a:rPr>
                        <a:t>AOI</a:t>
                      </a:r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>
                  <a:txBody>
                    <a:bodyPr/>
                    <a:lstStyle/>
                    <a:p>
                      <a:pPr algn="l" latinLnBrk="1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스틱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Particle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</a:rPr>
                        <a:t>&gt; 50</a:t>
                      </a:r>
                      <a:r>
                        <a:rPr lang="ko-KR" altLang="en-US" sz="1050" u="none" strike="noStrike" dirty="0">
                          <a:effectLst/>
                        </a:rPr>
                        <a:t>㎛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10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8755388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Crack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&gt; 0</a:t>
                      </a:r>
                      <a:r>
                        <a:rPr lang="ko-KR" altLang="en-US" sz="1050" u="none" strike="noStrike" dirty="0">
                          <a:effectLst/>
                        </a:rPr>
                        <a:t>㎛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083946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Stain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&gt; 28</a:t>
                      </a:r>
                      <a:r>
                        <a:rPr lang="ko-KR" altLang="en-US" sz="1050" u="none" strike="noStrike" dirty="0">
                          <a:effectLst/>
                        </a:rPr>
                        <a:t>㎛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6470218"/>
                  </a:ext>
                </a:extLst>
              </a:tr>
              <a:tr h="93829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Scratch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Wingdings" panose="05000000000000000000" pitchFamily="2" charset="2"/>
                        <a:buNone/>
                      </a:pPr>
                      <a:r>
                        <a:rPr lang="en-US" altLang="ko-KR" sz="1050" u="none" strike="noStrike" dirty="0">
                          <a:effectLst/>
                        </a:rPr>
                        <a:t>&gt;(</a:t>
                      </a:r>
                      <a:r>
                        <a:rPr lang="ko-KR" altLang="en-US" sz="1050" u="none" strike="noStrike" dirty="0">
                          <a:effectLst/>
                        </a:rPr>
                        <a:t>길이</a:t>
                      </a:r>
                      <a:r>
                        <a:rPr lang="en-US" altLang="ko-KR" sz="1050" u="none" strike="noStrike" dirty="0">
                          <a:effectLst/>
                        </a:rPr>
                        <a:t>)</a:t>
                      </a:r>
                      <a:r>
                        <a:rPr lang="en-US" altLang="ko-KR" sz="1050" u="none" strike="noStrike" baseline="0" dirty="0">
                          <a:effectLst/>
                        </a:rPr>
                        <a:t> 1000</a:t>
                      </a:r>
                      <a:r>
                        <a:rPr lang="ko-KR" altLang="en-US" sz="1050" u="none" strike="noStrike" dirty="0">
                          <a:effectLst/>
                        </a:rPr>
                        <a:t>㎛</a:t>
                      </a:r>
                      <a:endParaRPr lang="en-US" altLang="ko-KR" sz="1050" u="none" strike="noStrike" dirty="0">
                        <a:effectLst/>
                      </a:endParaRPr>
                    </a:p>
                    <a:p>
                      <a:pPr marL="0" indent="0" algn="ctr" fontAlgn="ctr">
                        <a:buFont typeface="Wingdings" panose="05000000000000000000" pitchFamily="2" charset="2"/>
                        <a:buNone/>
                      </a:pP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&gt;(</a:t>
                      </a:r>
                      <a:r>
                        <a:rPr lang="ko-KR" alt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폭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  <a:p>
                      <a:pPr marL="0" indent="0" algn="ctr" fontAlgn="ctr">
                        <a:buFont typeface="Wingdings" panose="05000000000000000000" pitchFamily="2" charset="2"/>
                        <a:buNone/>
                      </a:pP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  <a:r>
                        <a:rPr lang="ko-KR" altLang="en-US" sz="1050" u="none" strike="noStrike" dirty="0">
                          <a:effectLst/>
                        </a:rPr>
                        <a:t>㎛</a:t>
                      </a:r>
                      <a:endParaRPr lang="en-US" altLang="ko-KR" sz="105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Edge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닿지않을것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&lt; 0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3032228"/>
                  </a:ext>
                </a:extLst>
              </a:tr>
              <a:tr h="3454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에칭불량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u="none" strike="noStrike" dirty="0">
                          <a:effectLst/>
                        </a:rPr>
                        <a:t>&gt; 100</a:t>
                      </a:r>
                      <a:r>
                        <a:rPr lang="ko-KR" altLang="en-US" sz="1050" u="none" strike="noStrike" dirty="0">
                          <a:effectLst/>
                        </a:rPr>
                        <a:t>㎛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u="none" strike="noStrike" dirty="0">
                          <a:effectLst/>
                        </a:rPr>
                        <a:t>&gt; 40</a:t>
                      </a:r>
                      <a:r>
                        <a:rPr lang="ko-KR" altLang="en-US" sz="1050" u="none" strike="noStrike" dirty="0">
                          <a:effectLst/>
                        </a:rPr>
                        <a:t>㎛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&lt; 0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608861"/>
                  </a:ext>
                </a:extLst>
              </a:tr>
              <a:tr h="3454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u="none" strike="noStrike" dirty="0">
                          <a:effectLst/>
                        </a:rPr>
                        <a:t>&lt; 100</a:t>
                      </a:r>
                      <a:r>
                        <a:rPr lang="ko-KR" altLang="en-US" sz="1050" u="none" strike="noStrike" dirty="0">
                          <a:effectLst/>
                        </a:rPr>
                        <a:t>㎛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u="none" strike="noStrike" dirty="0">
                          <a:effectLst/>
                        </a:rPr>
                        <a:t>&lt; 40</a:t>
                      </a:r>
                      <a:r>
                        <a:rPr lang="ko-KR" altLang="en-US" sz="1050" u="none" strike="noStrike" dirty="0">
                          <a:effectLst/>
                        </a:rPr>
                        <a:t>㎛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&lt; 5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4474263"/>
                  </a:ext>
                </a:extLst>
              </a:tr>
              <a:tr h="177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9"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육</a:t>
                      </a: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안</a:t>
                      </a:r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pPr lvl="0" algn="l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스틱</a:t>
                      </a: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Scratch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6382053"/>
                  </a:ext>
                </a:extLst>
              </a:tr>
              <a:tr h="177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vl="0" algn="l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Bending</a:t>
                      </a: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u="none" strike="noStrike" dirty="0">
                        <a:effectLst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 0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9210917"/>
                  </a:ext>
                </a:extLst>
              </a:tr>
              <a:tr h="177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vl="0" algn="l" rtl="0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Stain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baseline="0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baseline="0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 0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075213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Broken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 0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5656768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프레임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Scratch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8219580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Corrosion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 0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93885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경사면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Scratch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36253631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Burr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ea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3666791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ko-KR" alt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용접부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ea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3738262"/>
                  </a:ext>
                </a:extLst>
              </a:tr>
              <a:tr h="177245"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특이사항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4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최종 </a:t>
                      </a:r>
                      <a:r>
                        <a:rPr lang="ko-KR" altLang="en-US" sz="1050" b="1" dirty="0" err="1">
                          <a:latin typeface="+mn-ea"/>
                          <a:ea typeface="+mn-ea"/>
                        </a:rPr>
                        <a:t>승인자</a:t>
                      </a:r>
                      <a:r>
                        <a:rPr lang="en-US" altLang="ko-KR" sz="1050" b="1" dirty="0">
                          <a:latin typeface="+mn-ea"/>
                          <a:ea typeface="+mn-ea"/>
                        </a:rPr>
                        <a:t>:          </a:t>
                      </a:r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박권식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72" marR="8572" marT="8572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235858"/>
                  </a:ext>
                </a:extLst>
              </a:tr>
              <a:tr h="177245"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572" marR="8572" marT="8572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최종 판정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72" marR="8572" marT="8572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984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812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72" y="-7151"/>
            <a:ext cx="6858000" cy="5409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1286657" y="33868"/>
            <a:ext cx="42548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en-US" altLang="ko-KR" sz="2800" u="none" strike="noStrike" dirty="0">
                <a:effectLst/>
                <a:latin typeface="Dutch801 XBd BT" pitchFamily="18" charset="0"/>
              </a:rPr>
              <a:t>Mask Inspection Report </a:t>
            </a:r>
            <a:endParaRPr lang="en-US" altLang="ko-KR" sz="2800" b="1" i="1" dirty="0">
              <a:solidFill>
                <a:srgbClr val="000000"/>
              </a:solidFill>
              <a:latin typeface="Dutch801 XBd BT" pitchFamily="18" charset="0"/>
            </a:endParaRPr>
          </a:p>
        </p:txBody>
      </p:sp>
      <p:graphicFrame>
        <p:nvGraphicFramePr>
          <p:cNvPr id="195" name="tb_fron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667854"/>
              </p:ext>
            </p:extLst>
          </p:nvPr>
        </p:nvGraphicFramePr>
        <p:xfrm>
          <a:off x="260647" y="1115616"/>
          <a:ext cx="6336705" cy="7290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3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9081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260647" y="721814"/>
          <a:ext cx="6336705" cy="205740"/>
        </p:xfrm>
        <a:graphic>
          <a:graphicData uri="http://schemas.openxmlformats.org/drawingml/2006/table">
            <a:tbl>
              <a:tblPr>
                <a:tableStyleId>{E929F9F4-4A8F-4326-A1B4-22849713DDAB}</a:tableStyleId>
              </a:tblPr>
              <a:tblGrid>
                <a:gridCol w="633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출하 육안 검사 결과</a:t>
                      </a:r>
                      <a:r>
                        <a:rPr lang="ko-KR" altLang="en-US" sz="11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altLang="ko-KR" sz="11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- </a:t>
                      </a:r>
                      <a:r>
                        <a:rPr lang="ko-KR" altLang="en-US" sz="11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전면</a:t>
                      </a:r>
                      <a:r>
                        <a:rPr lang="ko-KR" alt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　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/>
                      </a:endParaRPr>
                    </a:p>
                  </a:txBody>
                  <a:tcPr marL="128587" marR="8572" marT="8572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0" y="8961966"/>
            <a:ext cx="6858000" cy="1820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281" y="8756346"/>
            <a:ext cx="2401438" cy="41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873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/>
          <p:cNvSpPr/>
          <p:nvPr/>
        </p:nvSpPr>
        <p:spPr>
          <a:xfrm>
            <a:off x="372" y="-7151"/>
            <a:ext cx="6858000" cy="5409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1286657" y="33868"/>
            <a:ext cx="42548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en-US" altLang="ko-KR" sz="2800" u="none" strike="noStrike" dirty="0">
                <a:effectLst/>
                <a:latin typeface="Dutch801 XBd BT" pitchFamily="18" charset="0"/>
              </a:rPr>
              <a:t>Mask Inspection Report </a:t>
            </a:r>
            <a:endParaRPr lang="en-US" altLang="ko-KR" sz="2800" b="1" i="1" dirty="0">
              <a:solidFill>
                <a:srgbClr val="000000"/>
              </a:solidFill>
              <a:latin typeface="Dutch801 XBd BT" pitchFamily="18" charset="0"/>
            </a:endParaRPr>
          </a:p>
        </p:txBody>
      </p:sp>
      <p:graphicFrame>
        <p:nvGraphicFramePr>
          <p:cNvPr id="10" name="tb_sid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134222"/>
              </p:ext>
            </p:extLst>
          </p:nvPr>
        </p:nvGraphicFramePr>
        <p:xfrm>
          <a:off x="310071" y="2707679"/>
          <a:ext cx="6336705" cy="59253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12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8134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144011"/>
                  </a:ext>
                </a:extLst>
              </a:tr>
              <a:tr h="148134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696486"/>
                  </a:ext>
                </a:extLst>
              </a:tr>
              <a:tr h="148134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866768"/>
                  </a:ext>
                </a:extLst>
              </a:tr>
              <a:tr h="148134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38077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310071" y="721814"/>
          <a:ext cx="6336705" cy="205740"/>
        </p:xfrm>
        <a:graphic>
          <a:graphicData uri="http://schemas.openxmlformats.org/drawingml/2006/table">
            <a:tbl>
              <a:tblPr>
                <a:tableStyleId>{E929F9F4-4A8F-4326-A1B4-22849713DDAB}</a:tableStyleId>
              </a:tblPr>
              <a:tblGrid>
                <a:gridCol w="633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출하 육안 검사 결과</a:t>
                      </a:r>
                      <a:r>
                        <a:rPr lang="ko-KR" altLang="en-US" sz="11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altLang="ko-KR" sz="11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- </a:t>
                      </a:r>
                      <a:r>
                        <a:rPr lang="ko-KR" altLang="en-US" sz="11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경사면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/>
                      </a:endParaRPr>
                    </a:p>
                  </a:txBody>
                  <a:tcPr marL="128587" marR="8572" marT="8572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" name="그룹 7"/>
          <p:cNvGrpSpPr/>
          <p:nvPr/>
        </p:nvGrpSpPr>
        <p:grpSpPr>
          <a:xfrm>
            <a:off x="2190815" y="996630"/>
            <a:ext cx="2654899" cy="1614594"/>
            <a:chOff x="2239156" y="1173140"/>
            <a:chExt cx="2478533" cy="1453575"/>
          </a:xfrm>
        </p:grpSpPr>
        <p:pic>
          <p:nvPicPr>
            <p:cNvPr id="11" name="그림 10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88"/>
            <a:stretch/>
          </p:blipFill>
          <p:spPr bwMode="auto">
            <a:xfrm>
              <a:off x="2339218" y="1260761"/>
              <a:ext cx="2313730" cy="12819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타원 6"/>
            <p:cNvSpPr/>
            <p:nvPr/>
          </p:nvSpPr>
          <p:spPr>
            <a:xfrm>
              <a:off x="2239156" y="1353421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A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4" name="타원 13"/>
            <p:cNvSpPr/>
            <p:nvPr/>
          </p:nvSpPr>
          <p:spPr>
            <a:xfrm>
              <a:off x="2239156" y="1806501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B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5" name="타원 14"/>
            <p:cNvSpPr/>
            <p:nvPr/>
          </p:nvSpPr>
          <p:spPr>
            <a:xfrm>
              <a:off x="2239156" y="2280060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C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6" name="타원 15"/>
            <p:cNvSpPr/>
            <p:nvPr/>
          </p:nvSpPr>
          <p:spPr>
            <a:xfrm>
              <a:off x="4530222" y="2280060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G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>
              <a:off x="4530222" y="1806501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H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4530222" y="1353421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I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9" name="타원 18"/>
            <p:cNvSpPr/>
            <p:nvPr/>
          </p:nvSpPr>
          <p:spPr>
            <a:xfrm>
              <a:off x="2540703" y="1173140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L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0" name="타원 19"/>
            <p:cNvSpPr/>
            <p:nvPr/>
          </p:nvSpPr>
          <p:spPr>
            <a:xfrm>
              <a:off x="3362611" y="1173140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K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" name="타원 20"/>
            <p:cNvSpPr/>
            <p:nvPr/>
          </p:nvSpPr>
          <p:spPr>
            <a:xfrm>
              <a:off x="4271596" y="1191784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J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6" name="타원 25"/>
            <p:cNvSpPr/>
            <p:nvPr/>
          </p:nvSpPr>
          <p:spPr>
            <a:xfrm>
              <a:off x="2540703" y="2451472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D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7" name="타원 26"/>
            <p:cNvSpPr/>
            <p:nvPr/>
          </p:nvSpPr>
          <p:spPr>
            <a:xfrm>
              <a:off x="3362611" y="2451472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E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8" name="타원 27"/>
            <p:cNvSpPr/>
            <p:nvPr/>
          </p:nvSpPr>
          <p:spPr>
            <a:xfrm>
              <a:off x="4246381" y="2451472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F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29" name="타원 28"/>
          <p:cNvSpPr/>
          <p:nvPr/>
        </p:nvSpPr>
        <p:spPr>
          <a:xfrm>
            <a:off x="314041" y="4200413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D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2458655" y="4200413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E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4559214" y="4200412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F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307731" y="5702044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G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2446969" y="5677979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H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4557058" y="5683616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I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307731" y="7167555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J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2458655" y="7155523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K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4557315" y="7162392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L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310071" y="2708345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A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2446969" y="2708345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B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4526031" y="2732966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C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0" y="8961966"/>
            <a:ext cx="6858000" cy="1820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281" y="8756346"/>
            <a:ext cx="2401438" cy="41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385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/>
        </p:nvSpPr>
        <p:spPr>
          <a:xfrm>
            <a:off x="372" y="-7151"/>
            <a:ext cx="6858000" cy="5409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1286657" y="33868"/>
            <a:ext cx="42548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en-US" altLang="ko-KR" sz="2800" u="none" strike="noStrike" dirty="0">
                <a:effectLst/>
                <a:latin typeface="Dutch801 XBd BT" pitchFamily="18" charset="0"/>
              </a:rPr>
              <a:t>Mask Inspection Report </a:t>
            </a:r>
            <a:endParaRPr lang="en-US" altLang="ko-KR" sz="2800" b="1" i="1" dirty="0">
              <a:solidFill>
                <a:srgbClr val="000000"/>
              </a:solidFill>
              <a:latin typeface="Dutch801 XBd BT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5713" y="1009070"/>
            <a:ext cx="2778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● </a:t>
            </a:r>
            <a:r>
              <a:rPr lang="en-US" altLang="ko-KR" sz="1100" b="1" dirty="0"/>
              <a:t>Vision Inspection Bad Sector Image</a:t>
            </a:r>
            <a:endParaRPr lang="ko-KR" altLang="en-US" sz="1100" b="1" dirty="0"/>
          </a:p>
        </p:txBody>
      </p:sp>
      <p:graphicFrame>
        <p:nvGraphicFramePr>
          <p:cNvPr id="9" name="tb_badsecto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71434"/>
              </p:ext>
            </p:extLst>
          </p:nvPr>
        </p:nvGraphicFramePr>
        <p:xfrm>
          <a:off x="260647" y="1306112"/>
          <a:ext cx="6336705" cy="74067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12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8134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134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134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787822"/>
                  </a:ext>
                </a:extLst>
              </a:tr>
              <a:tr h="148134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92257"/>
                  </a:ext>
                </a:extLst>
              </a:tr>
              <a:tr h="148134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623807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260647" y="765860"/>
          <a:ext cx="6336705" cy="205740"/>
        </p:xfrm>
        <a:graphic>
          <a:graphicData uri="http://schemas.openxmlformats.org/drawingml/2006/table">
            <a:tbl>
              <a:tblPr>
                <a:tableStyleId>{8FD4443E-F989-4FC4-A0C8-D5A2AF1F390B}</a:tableStyleId>
              </a:tblPr>
              <a:tblGrid>
                <a:gridCol w="633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출하 </a:t>
                      </a:r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AOI</a:t>
                      </a:r>
                      <a:r>
                        <a:rPr lang="ko-KR" alt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검사 결과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/>
                      </a:endParaRPr>
                    </a:p>
                  </a:txBody>
                  <a:tcPr marL="128587" marR="8572" marT="8572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0" y="8961966"/>
            <a:ext cx="6858000" cy="1820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281" y="8756346"/>
            <a:ext cx="2401438" cy="41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650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367</Words>
  <Application>Microsoft Office PowerPoint</Application>
  <PresentationFormat>화면 슬라이드 쇼(4:3)</PresentationFormat>
  <Paragraphs>229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Dutch801 XBd BT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FNSTech</dc:creator>
  <cp:lastModifiedBy>한신구</cp:lastModifiedBy>
  <cp:revision>105</cp:revision>
  <dcterms:created xsi:type="dcterms:W3CDTF">2017-10-11T06:27:33Z</dcterms:created>
  <dcterms:modified xsi:type="dcterms:W3CDTF">2022-10-13T17:29:25Z</dcterms:modified>
</cp:coreProperties>
</file>